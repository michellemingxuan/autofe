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direction_guided_exploration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2"/>
  </p:notesMasterIdLst>
  <p:handoutMasterIdLst>
    <p:handoutMasterId r:id="rId43"/>
  </p:handoutMasterIdLst>
  <p:sldIdLst>
    <p:sldId id="256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7392" userDrawn="1">
          <p15:clr>
            <a:srgbClr val="A4A3A4"/>
          </p15:clr>
        </p15:guide>
        <p15:guide id="4" pos="288" userDrawn="1">
          <p15:clr>
            <a:srgbClr val="A4A3A4"/>
          </p15:clr>
        </p15:guide>
        <p15:guide id="5" orient="horz" pos="768" userDrawn="1">
          <p15:clr>
            <a:srgbClr val="A4A3A4"/>
          </p15:clr>
        </p15:guide>
        <p15:guide id="6" orient="horz" pos="240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10" orient="horz" pos="40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AD2"/>
    <a:srgbClr val="FDB92D"/>
    <a:srgbClr val="041755"/>
    <a:srgbClr val="4781B4"/>
    <a:srgbClr val="99C6EC"/>
    <a:srgbClr val="67A9E3"/>
    <a:srgbClr val="DBE9FC"/>
    <a:srgbClr val="DCEEF3"/>
    <a:srgbClr val="B52C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53980-BD23-8048-A840-E44DAA604E75}" v="49" dt="2025-07-09T05:50:55.39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18"/>
    <p:restoredTop sz="79407" autoAdjust="0"/>
  </p:normalViewPr>
  <p:slideViewPr>
    <p:cSldViewPr snapToGrid="0">
      <p:cViewPr varScale="1">
        <p:scale>
          <a:sx n="87" d="100"/>
          <a:sy n="87" d="100"/>
        </p:scale>
        <p:origin x="1656" y="192"/>
      </p:cViewPr>
      <p:guideLst>
        <p:guide orient="horz" pos="2160"/>
        <p:guide pos="7392"/>
        <p:guide pos="288"/>
        <p:guide orient="horz" pos="768"/>
        <p:guide orient="horz" pos="240"/>
        <p:guide pos="3840"/>
        <p:guide orient="horz" pos="40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2" Type="http://schemas.openxmlformats.org/officeDocument/2006/relationships/notesMaster" Target="notesMasters/notesMaster1.xml"/><Relationship Id="rId43" Type="http://schemas.openxmlformats.org/officeDocument/2006/relationships/handoutMaster" Target="handoutMasters/handout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D20767-D346-6620-3B07-1BC8386EC4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42AAE-C14D-A458-4038-8BB112FF9B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29D72-74B5-47CB-9459-B63574B200F9}" type="datetime5">
              <a:rPr lang="en-US" smtClean="0"/>
              <a:t>1-Feb-26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FBDA-7188-7082-3167-872BF3CA3D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AXP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EE622-4D8A-243D-B15D-C627AFF1B4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38018-DC6D-4420-A230-53814F1B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8087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B062A-B901-4358-B71C-30DD2DA933B6}" type="datetime5">
              <a:rPr lang="en-US" smtClean="0"/>
              <a:t>1-Feb-26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AXP Internal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B572F-2898-42CE-85AE-D0A5B5264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4595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esentation 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D7C69E-850C-FC46-8BB4-06A04ABA30E9}"/>
              </a:ext>
            </a:extLst>
          </p:cNvPr>
          <p:cNvSpPr/>
          <p:nvPr/>
        </p:nvSpPr>
        <p:spPr>
          <a:xfrm>
            <a:off x="-1171" y="5463807"/>
            <a:ext cx="12193172" cy="13941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400" b="0" i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B636C5B-94F4-AF4A-9ADD-19FA810F71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5945655"/>
            <a:ext cx="8412059" cy="609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67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Meeting Date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3F8A960-FA3E-5E46-A7A5-E0687C0534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3" y="1394195"/>
            <a:ext cx="10286999" cy="1806207"/>
          </a:xfrm>
        </p:spPr>
        <p:txBody>
          <a:bodyPr anchor="b">
            <a:noAutofit/>
          </a:bodyPr>
          <a:lstStyle>
            <a:lvl1pPr algn="l">
              <a:defRPr sz="4267" b="1" i="0" spc="-107" baseline="0">
                <a:solidFill>
                  <a:srgbClr val="006FCF"/>
                </a:solidFill>
                <a:latin typeface="BentonSans Black" panose="0200050303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1D6E434-B052-F749-B671-5AA030EFD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999" t="-1230" r="7667" b="-8226"/>
          <a:stretch/>
        </p:blipFill>
        <p:spPr>
          <a:xfrm>
            <a:off x="8560219" y="4993793"/>
            <a:ext cx="3631781" cy="857120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C17BC6-7160-6F48-9CBF-8923A0DBDA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540892"/>
            <a:ext cx="11048997" cy="546449"/>
          </a:xfrm>
        </p:spPr>
        <p:txBody>
          <a:bodyPr/>
          <a:lstStyle>
            <a:lvl1pPr>
              <a:buNone/>
              <a:defRPr sz="2400" b="1" i="0">
                <a:solidFill>
                  <a:schemeClr val="tx2"/>
                </a:solidFill>
                <a:latin typeface="BentonSans Bold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American Express Innovation Laboratories Limited (AEILL)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6A3A1-18C8-4DAD-B421-ED65D3C2CD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429000"/>
            <a:ext cx="5689600" cy="11176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36542-519A-4E62-AF56-52C2A146E36C}"/>
              </a:ext>
            </a:extLst>
          </p:cNvPr>
          <p:cNvSpPr/>
          <p:nvPr userDrawn="1"/>
        </p:nvSpPr>
        <p:spPr>
          <a:xfrm>
            <a:off x="-1171" y="5463807"/>
            <a:ext cx="12193172" cy="13941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400" b="0" i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FC733926-F2DD-4F5D-9612-F0D62229A1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2999" t="-1230" r="7667" b="-8226"/>
          <a:stretch/>
        </p:blipFill>
        <p:spPr>
          <a:xfrm>
            <a:off x="8560219" y="4993793"/>
            <a:ext cx="3631781" cy="857120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233F90AD-C487-82B3-B0D6-6D6C4402145E}"/>
              </a:ext>
            </a:extLst>
          </p:cNvPr>
          <p:cNvSpPr txBox="1"/>
          <p:nvPr userDrawn="1"/>
        </p:nvSpPr>
        <p:spPr>
          <a:xfrm>
            <a:off x="596900" y="5952540"/>
            <a:ext cx="2197100" cy="30008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850" b="1" dirty="0">
                <a:solidFill>
                  <a:srgbClr val="FFFFFF"/>
                </a:solidFill>
                <a:latin typeface="BentonSans Bold" panose="02000503000000020004" pitchFamily="2" charset="0"/>
                <a:cs typeface="Arial"/>
              </a:rPr>
              <a:t>July, 2025</a:t>
            </a:r>
            <a:endParaRPr sz="1850" dirty="0">
              <a:latin typeface="BentonSans Bold" panose="02000503000000020004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4479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A2068B8D-1178-0046-A10E-0A14A376F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42222F6-F25A-C80F-426B-3BA0EAA5197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1208814"/>
              </p:ext>
            </p:extLst>
          </p:nvPr>
        </p:nvGraphicFramePr>
        <p:xfrm>
          <a:off x="456567" y="1409700"/>
          <a:ext cx="11278233" cy="4876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7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1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94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BentonSans Regular"/>
                          <a:cs typeface="BentonSans Regular"/>
                        </a:rPr>
                        <a:t>Time</a:t>
                      </a:r>
                      <a:r>
                        <a:rPr sz="950" spc="-30" dirty="0">
                          <a:solidFill>
                            <a:srgbClr val="FFFFFF"/>
                          </a:solidFill>
                          <a:latin typeface="BentonSans Regular"/>
                          <a:cs typeface="BentonSans Regular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BentonSans Regular"/>
                          <a:cs typeface="BentonSans Regular"/>
                        </a:rPr>
                        <a:t>(</a:t>
                      </a:r>
                      <a:r>
                        <a:rPr lang="en-US" sz="950" spc="-10" dirty="0">
                          <a:solidFill>
                            <a:srgbClr val="FFFFFF"/>
                          </a:solidFill>
                          <a:latin typeface="BentonSans Regular"/>
                          <a:cs typeface="BentonSans Regular"/>
                        </a:rPr>
                        <a:t>S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BentonSans Regular"/>
                          <a:cs typeface="BentonSans Regular"/>
                        </a:rPr>
                        <a:t>ST)</a:t>
                      </a:r>
                      <a:endParaRPr sz="950" dirty="0">
                        <a:latin typeface="BentonSans Regular"/>
                        <a:cs typeface="BentonSans Regular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75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BentonSans Regular"/>
                          <a:cs typeface="BentonSans Regular"/>
                        </a:rPr>
                        <a:t>Agenda</a:t>
                      </a:r>
                      <a:r>
                        <a:rPr sz="950" spc="-45" dirty="0">
                          <a:solidFill>
                            <a:srgbClr val="FFFFFF"/>
                          </a:solidFill>
                          <a:latin typeface="BentonSans Regular"/>
                          <a:cs typeface="BentonSans Regular"/>
                        </a:rPr>
                        <a:t> </a:t>
                      </a:r>
                      <a:r>
                        <a:rPr sz="950" spc="-20" dirty="0">
                          <a:solidFill>
                            <a:srgbClr val="FFFFFF"/>
                          </a:solidFill>
                          <a:latin typeface="BentonSans Regular"/>
                          <a:cs typeface="BentonSans Regular"/>
                        </a:rPr>
                        <a:t>Item</a:t>
                      </a:r>
                      <a:endParaRPr sz="950" dirty="0">
                        <a:latin typeface="BentonSans Regular"/>
                        <a:cs typeface="BentonSans Regular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75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BentonSans Regular"/>
                          <a:cs typeface="BentonSans Regular"/>
                        </a:rPr>
                        <a:t>Action</a:t>
                      </a:r>
                      <a:endParaRPr sz="950" dirty="0">
                        <a:latin typeface="BentonSans Regular"/>
                        <a:cs typeface="BentonSans Regular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75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spc="-20">
                          <a:solidFill>
                            <a:srgbClr val="FFFFFF"/>
                          </a:solidFill>
                          <a:latin typeface="BentonSans Regular"/>
                          <a:cs typeface="BentonSans Regular"/>
                        </a:rPr>
                        <a:t>Lead</a:t>
                      </a:r>
                      <a:endParaRPr sz="950">
                        <a:latin typeface="BentonSans Regular"/>
                        <a:cs typeface="BentonSans Regular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7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770">
                <a:tc>
                  <a:txBody>
                    <a:bodyPr/>
                    <a:lstStyle/>
                    <a:p>
                      <a:pPr marL="759865" lvl="1" indent="-298443" algn="l" defTabSz="914400" rtl="0" eaLnBrk="1" latinLnBrk="0" hangingPunct="1">
                        <a:lnSpc>
                          <a:spcPct val="120000"/>
                        </a:lnSpc>
                        <a:spcBef>
                          <a:spcPts val="400"/>
                        </a:spcBef>
                        <a:buFont typeface="+mj-lt"/>
                        <a:buAutoNum type="arabicPeriod"/>
                      </a:pPr>
                      <a:endParaRPr sz="1000" b="0" kern="1200" dirty="0">
                        <a:solidFill>
                          <a:srgbClr val="000000"/>
                        </a:solidFill>
                        <a:latin typeface="BentonSans Regular" panose="02000503000000020004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3175" marB="0" anchor="ctr">
                    <a:lnL w="12700">
                      <a:solidFill>
                        <a:srgbClr val="7E7E7E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9865" lvl="1" indent="-298443" algn="l" defTabSz="914400" rtl="0" eaLnBrk="1" latinLnBrk="0" hangingPunct="1">
                        <a:lnSpc>
                          <a:spcPct val="120000"/>
                        </a:lnSpc>
                        <a:spcBef>
                          <a:spcPts val="400"/>
                        </a:spcBef>
                        <a:buFont typeface="+mj-lt"/>
                        <a:buAutoNum type="arabicPeriod"/>
                      </a:pPr>
                      <a:endParaRPr lang="en-US" sz="1000" b="0" kern="1200" dirty="0">
                        <a:solidFill>
                          <a:srgbClr val="000000"/>
                        </a:solidFill>
                        <a:latin typeface="BentonSans Regular" panose="02000503000000020004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8318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9865" marR="0" lvl="1" indent="-298443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00" b="0" kern="1200" noProof="0" dirty="0">
                        <a:solidFill>
                          <a:srgbClr val="000000"/>
                        </a:solidFill>
                        <a:latin typeface="BentonSans Regular" panose="02000503000000020004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8318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9865" marR="151130" lvl="1" indent="-298443" algn="l" defTabSz="914400" rtl="0" eaLnBrk="1" latinLnBrk="0" hangingPunct="1">
                        <a:lnSpc>
                          <a:spcPct val="120000"/>
                        </a:lnSpc>
                        <a:spcBef>
                          <a:spcPts val="400"/>
                        </a:spcBef>
                        <a:buFont typeface="+mj-lt"/>
                        <a:buAutoNum type="arabicPeriod"/>
                      </a:pPr>
                      <a:endParaRPr sz="1000" b="0" kern="1200" dirty="0">
                        <a:solidFill>
                          <a:srgbClr val="000000"/>
                        </a:solidFill>
                        <a:latin typeface="BentonSans Regular" panose="02000503000000020004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27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endParaRPr sz="950" dirty="0">
                        <a:latin typeface="BentonSans Regular"/>
                        <a:cs typeface="BentonSans Regular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lang="en-US" sz="950" spc="-10" dirty="0">
                        <a:solidFill>
                          <a:schemeClr val="tx1"/>
                        </a:solidFill>
                        <a:latin typeface="BentonSans Regular"/>
                        <a:ea typeface="+mn-ea"/>
                        <a:cs typeface="BentonSans Regular"/>
                      </a:endParaRPr>
                    </a:p>
                  </a:txBody>
                  <a:tcPr marL="0" marR="0" marT="71755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entonSans Regular"/>
                        <a:ea typeface="+mn-ea"/>
                        <a:cs typeface="BentonSans Regular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950" dirty="0">
                        <a:latin typeface="BentonSans Regular"/>
                        <a:cs typeface="BentonSans Regular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2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950" dirty="0">
                        <a:latin typeface="BentonSans Regular"/>
                        <a:cs typeface="BentonSans Regular"/>
                      </a:endParaRPr>
                    </a:p>
                  </a:txBody>
                  <a:tcPr marL="0" marR="0" marT="126364" marB="0" anchor="ctr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lang="en-US" sz="950" dirty="0">
                        <a:latin typeface="BentonSans Regular"/>
                        <a:cs typeface="BentonSans Regular"/>
                      </a:endParaRPr>
                    </a:p>
                  </a:txBody>
                  <a:tcPr marL="0" marR="0" marT="3937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entonSans Regular"/>
                        <a:ea typeface="+mn-ea"/>
                        <a:cs typeface="BentonSans Regular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 marR="363855" indent="-16954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174625" algn="l"/>
                        </a:tabLst>
                      </a:pPr>
                      <a:endParaRPr lang="en-US" sz="950" dirty="0">
                        <a:solidFill>
                          <a:schemeClr val="tx1"/>
                        </a:solidFill>
                        <a:latin typeface="BentonSans Regular"/>
                        <a:ea typeface="+mn-ea"/>
                        <a:cs typeface="BentonSans Regular"/>
                      </a:endParaRPr>
                    </a:p>
                  </a:txBody>
                  <a:tcPr marL="0" marR="0" marT="126364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27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endParaRPr sz="950" spc="-10" dirty="0">
                        <a:solidFill>
                          <a:schemeClr val="tx1"/>
                        </a:solidFill>
                        <a:latin typeface="BentonSans Regular"/>
                        <a:ea typeface="+mn-ea"/>
                        <a:cs typeface="BentonSans Regular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7E7E7E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lang="en-US" sz="950" dirty="0">
                        <a:solidFill>
                          <a:schemeClr val="tx1"/>
                        </a:solidFill>
                        <a:latin typeface="BentonSans Regular"/>
                        <a:ea typeface="+mn-ea"/>
                        <a:cs typeface="BentonSans Regular"/>
                      </a:endParaRPr>
                    </a:p>
                  </a:txBody>
                  <a:tcPr marL="0" marR="0" marT="4000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</a:pPr>
                      <a:endParaRPr lang="en-US" sz="950" spc="-10" dirty="0">
                        <a:latin typeface="BentonSans Regular"/>
                        <a:cs typeface="BentonSans 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9863" marR="363855" indent="-169863">
                        <a:lnSpc>
                          <a:spcPct val="100000"/>
                        </a:lnSpc>
                        <a:spcBef>
                          <a:spcPts val="994"/>
                        </a:spcBef>
                        <a:buFont typeface="Arial"/>
                        <a:buChar char="•"/>
                        <a:tabLst>
                          <a:tab pos="174625" algn="l"/>
                        </a:tabLst>
                      </a:pPr>
                      <a:endParaRPr lang="en-US" sz="950" dirty="0">
                        <a:latin typeface="BentonSans Regular"/>
                        <a:cs typeface="BentonSans Regular"/>
                      </a:endParaRPr>
                    </a:p>
                  </a:txBody>
                  <a:tcPr marL="0" marR="0" marT="12636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27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endParaRPr sz="950" spc="-10">
                        <a:solidFill>
                          <a:schemeClr val="tx1"/>
                        </a:solidFill>
                        <a:latin typeface="BentonSans Regular"/>
                        <a:ea typeface="+mn-ea"/>
                        <a:cs typeface="BentonSans Regular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7E7E7E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>
                          <a:tab pos="261620" algn="l"/>
                        </a:tabLst>
                        <a:defRPr/>
                      </a:pPr>
                      <a:endParaRPr lang="en-US" sz="950" dirty="0">
                        <a:latin typeface="BentonSans Regular"/>
                        <a:cs typeface="BentonSans Regular"/>
                      </a:endParaRPr>
                    </a:p>
                  </a:txBody>
                  <a:tcPr marL="0" marR="0" marT="4000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50" spc="-10" dirty="0">
                        <a:solidFill>
                          <a:schemeClr val="tx1"/>
                        </a:solidFill>
                        <a:latin typeface="BentonSans Regular"/>
                        <a:ea typeface="+mn-ea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50" dirty="0">
                        <a:solidFill>
                          <a:schemeClr val="tx1"/>
                        </a:solidFill>
                        <a:latin typeface="BentonSans Regular"/>
                        <a:ea typeface="+mn-ea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736099"/>
                  </a:ext>
                </a:extLst>
              </a:tr>
            </a:tbl>
          </a:graphicData>
        </a:graphic>
      </p:graphicFrame>
      <p:pic>
        <p:nvPicPr>
          <p:cNvPr id="2" name="Picture 1" descr="Creditandfraudrisk_logo-RGB.eps">
            <a:extLst>
              <a:ext uri="{FF2B5EF4-FFF2-40B4-BE49-F238E27FC236}">
                <a16:creationId xmlns:a16="http://schemas.microsoft.com/office/drawing/2014/main" id="{CF5E5154-E5A8-DBFF-824E-51EDB6422B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727" y="5934299"/>
            <a:ext cx="1768069" cy="45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0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A2068B8D-1178-0046-A10E-0A14A376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rgbClr val="006AD2"/>
                </a:solidFill>
                <a:effectLst/>
                <a:uLnTx/>
                <a:uFillTx/>
                <a:latin typeface="Guardian Egyp Regular" panose="02060503050503060803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213935-9B95-45DA-8D48-B065C3B583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6EB5F2-FA15-D0C0-69B7-72D6FF6F5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9700"/>
            <a:ext cx="11277600" cy="4876801"/>
          </a:xfrm>
        </p:spPr>
        <p:txBody>
          <a:bodyPr/>
          <a:lstStyle>
            <a:lvl1pPr marL="459306" indent="-459306">
              <a:buFont typeface="+mj-lt"/>
              <a:buAutoNum type="arabicPeriod"/>
              <a:defRPr sz="1400" b="0"/>
            </a:lvl1pPr>
            <a:lvl2pPr marL="759865" indent="-298443">
              <a:buFont typeface="+mj-lt"/>
              <a:buAutoNum type="arabicPeriod"/>
              <a:defRPr sz="1400" b="0"/>
            </a:lvl2pPr>
            <a:lvl3pPr marL="1068891" indent="-309026">
              <a:buFont typeface="+mj-lt"/>
              <a:buAutoNum type="arabicPeriod"/>
              <a:defRPr sz="1400" b="0"/>
            </a:lvl3pPr>
            <a:lvl4pPr marL="1369450" indent="-298443">
              <a:buFont typeface="+mj-lt"/>
              <a:buAutoNum type="arabicPeriod"/>
              <a:defRPr sz="1400" b="0"/>
            </a:lvl4pPr>
            <a:lvl5pPr marL="1678475" indent="-309026">
              <a:buFont typeface="+mj-lt"/>
              <a:buAutoNum type="arabicPeriod"/>
              <a:defRPr sz="14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Creditandfraudrisk_logo-RGB.eps">
            <a:extLst>
              <a:ext uri="{FF2B5EF4-FFF2-40B4-BE49-F238E27FC236}">
                <a16:creationId xmlns:a16="http://schemas.microsoft.com/office/drawing/2014/main" id="{9E761C24-DB04-3E3F-A2F0-09353CB4C1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727" y="5934299"/>
            <a:ext cx="1768069" cy="45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1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EE167099-3154-E94D-9F68-2A6017417E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999" t="-1230" r="7667" b="-8226"/>
          <a:stretch/>
        </p:blipFill>
        <p:spPr>
          <a:xfrm>
            <a:off x="4982515" y="4499565"/>
            <a:ext cx="7209487" cy="1701479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18CAA519-C941-124F-9E55-70258E2030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3" y="1447800"/>
            <a:ext cx="6400799" cy="1353821"/>
          </a:xfrm>
        </p:spPr>
        <p:txBody>
          <a:bodyPr rIns="137160" anchor="b" anchorCtr="0"/>
          <a:lstStyle>
            <a:lvl1pPr>
              <a:defRPr sz="4800" b="1" i="0" spc="-80" baseline="0">
                <a:solidFill>
                  <a:schemeClr val="bg1"/>
                </a:solidFill>
                <a:latin typeface="BentonSans Bold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4D0CBF9-69B6-AE44-AC04-592BBAEAEC1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4" y="2987043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 b="1" cap="all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98608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/>
        </p:nvSpPr>
        <p:spPr bwMode="hidden">
          <a:xfrm>
            <a:off x="1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lumMod val="65000"/>
              <a:alpha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400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921133-84F7-D74A-BCD6-D0648FCEF6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3" y="1447800"/>
            <a:ext cx="6400799" cy="1353821"/>
          </a:xfrm>
        </p:spPr>
        <p:txBody>
          <a:bodyPr rIns="137160" anchor="b" anchorCtr="0"/>
          <a:lstStyle>
            <a:lvl1pPr>
              <a:defRPr sz="4800" b="1" i="0" spc="-80" baseline="0">
                <a:solidFill>
                  <a:srgbClr val="006FCF"/>
                </a:solidFill>
                <a:latin typeface="BentonSans Bold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9927997-B28F-4048-93FE-745EC5B486F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4" y="2987043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 b="1" cap="all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86677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ppendix">
    <p:bg>
      <p:bgPr>
        <a:solidFill>
          <a:srgbClr val="00175A">
            <a:alpha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4928BC-ACC1-F744-BDCA-844252C7B843}"/>
              </a:ext>
            </a:extLst>
          </p:cNvPr>
          <p:cNvSpPr>
            <a:spLocks noEditPoints="1"/>
          </p:cNvSpPr>
          <p:nvPr/>
        </p:nvSpPr>
        <p:spPr bwMode="hidden">
          <a:xfrm>
            <a:off x="1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alpha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400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989AE1-0E44-4C42-9884-C292D1378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3" y="1447800"/>
            <a:ext cx="6400799" cy="1353821"/>
          </a:xfrm>
        </p:spPr>
        <p:txBody>
          <a:bodyPr rIns="137160" anchor="b" anchorCtr="0"/>
          <a:lstStyle>
            <a:lvl1pPr>
              <a:defRPr kumimoji="0" lang="en-US" sz="4800" b="1" i="0" u="none" strike="noStrike" kern="1200" cap="none" spc="-8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ntonSans Bold" panose="02000503000000020004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Appendix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09FB148-FCEA-9A4F-8387-61CED4FCA1F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4" y="2987043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 b="1" cap="all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7312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087A4E-0CEC-4643-B82A-2DA627EFE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52620" y="2549568"/>
            <a:ext cx="6486761" cy="175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3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8FED-0359-6A45-8A9C-E946B719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9575"/>
            <a:ext cx="11278489" cy="8223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B908-AC83-8040-9BEE-F0D0260A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09701"/>
            <a:ext cx="11277600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FF1528-7B0A-4E4B-96AD-9E22A65534CD}"/>
              </a:ext>
            </a:extLst>
          </p:cNvPr>
          <p:cNvSpPr txBox="1"/>
          <p:nvPr/>
        </p:nvSpPr>
        <p:spPr>
          <a:xfrm>
            <a:off x="9526495" y="663388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1" indent="-228601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b="0" i="0">
              <a:latin typeface="Arial" panose="020B0604020202020204" pitchFamily="34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961A4A4-240D-4DEC-95F8-83D2CAC8E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38900"/>
            <a:ext cx="11277600" cy="3579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67" i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2E6FD583-99A5-3CD1-FF85-EABA45136B92}"/>
              </a:ext>
            </a:extLst>
          </p:cNvPr>
          <p:cNvSpPr txBox="1">
            <a:spLocks/>
          </p:cNvSpPr>
          <p:nvPr userDrawn="1"/>
        </p:nvSpPr>
        <p:spPr>
          <a:xfrm>
            <a:off x="11582398" y="6506937"/>
            <a:ext cx="416178" cy="221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300" b="0" i="0">
                <a:solidFill>
                  <a:srgbClr val="BEBEBE"/>
                </a:solidFill>
                <a:latin typeface="BentonSans Medium"/>
                <a:cs typeface="BentonSans Medium"/>
              </a:defRPr>
            </a:lvl1pPr>
          </a:lstStyle>
          <a:p>
            <a:pPr marL="214629">
              <a:lnSpc>
                <a:spcPts val="1085"/>
              </a:lnSpc>
            </a:pPr>
            <a:fld id="{81D60167-4931-47E6-BA6A-407CBD079E47}" type="slidenum">
              <a:rPr lang="en-US" sz="1000" spc="-25" smtClean="0">
                <a:solidFill>
                  <a:srgbClr val="001F5F"/>
                </a:solidFill>
                <a:latin typeface="BentonSans Regular"/>
                <a:cs typeface="BentonSans Regular"/>
              </a:rPr>
              <a:pPr marL="214629">
                <a:lnSpc>
                  <a:spcPts val="1085"/>
                </a:lnSpc>
              </a:pPr>
              <a:t>‹#›</a:t>
            </a:fld>
            <a:endParaRPr lang="en-US" sz="1000" dirty="0">
              <a:latin typeface="BentonSans Regular"/>
              <a:cs typeface="Benton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20171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4" r:id="rId2"/>
    <p:sldLayoutId id="2147483671" r:id="rId3"/>
    <p:sldLayoutId id="2147483678" r:id="rId4"/>
    <p:sldLayoutId id="2147483679" r:id="rId5"/>
    <p:sldLayoutId id="2147483680" r:id="rId6"/>
    <p:sldLayoutId id="2147483682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2800" b="0" i="0" u="none" strike="noStrike" kern="1200" cap="none" spc="0" normalizeH="0" baseline="0" dirty="0">
          <a:ln>
            <a:noFill/>
          </a:ln>
          <a:solidFill>
            <a:srgbClr val="006AD2"/>
          </a:solidFill>
          <a:effectLst/>
          <a:uLnTx/>
          <a:uFillTx/>
          <a:latin typeface="Guardian Egyp Regular" panose="02060503050503060803"/>
          <a:ea typeface="+mj-ea"/>
          <a:cs typeface="Arial" panose="020B0604020202020204" pitchFamily="34" charset="0"/>
        </a:defRPr>
      </a:lvl1pPr>
    </p:titleStyle>
    <p:bodyStyle>
      <a:lvl1pPr marL="228601" indent="-228601" algn="l" defTabSz="914400" rtl="0" eaLnBrk="1" latinLnBrk="0" hangingPunct="1">
        <a:lnSpc>
          <a:spcPct val="120000"/>
        </a:lnSpc>
        <a:spcBef>
          <a:spcPts val="1200"/>
        </a:spcBef>
        <a:buSzPct val="120000"/>
        <a:buFont typeface="Arial" panose="020B0604020202020204" pitchFamily="34" charset="0"/>
        <a:buChar char="▪"/>
        <a:defRPr sz="1400" kern="1200">
          <a:solidFill>
            <a:srgbClr val="000000"/>
          </a:solidFill>
          <a:latin typeface="BentonSans Regular" panose="02000503000000020004" pitchFamily="2" charset="0"/>
          <a:ea typeface="+mn-ea"/>
          <a:cs typeface="Arial" panose="020B0604020202020204" pitchFamily="34" charset="0"/>
        </a:defRPr>
      </a:lvl1pPr>
      <a:lvl2pPr marL="463295" indent="-228601" algn="l" defTabSz="914400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BentonSans Regular" panose="02000503000000020004" pitchFamily="2" charset="0"/>
          <a:ea typeface="+mn-ea"/>
          <a:cs typeface="Arial" panose="020B0604020202020204" pitchFamily="34" charset="0"/>
        </a:defRPr>
      </a:lvl2pPr>
      <a:lvl3pPr marL="682754" indent="-228601" algn="l" defTabSz="914400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BentonSans Regular" panose="02000503000000020004" pitchFamily="2" charset="0"/>
          <a:ea typeface="+mn-ea"/>
          <a:cs typeface="Arial" panose="020B0604020202020204" pitchFamily="34" charset="0"/>
        </a:defRPr>
      </a:lvl3pPr>
      <a:lvl4pPr marL="914400" indent="-228601" algn="l" defTabSz="914400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BentonSans Regular" panose="02000503000000020004" pitchFamily="2" charset="0"/>
          <a:ea typeface="+mn-ea"/>
          <a:cs typeface="Arial" panose="020B0604020202020204" pitchFamily="34" charset="0"/>
        </a:defRPr>
      </a:lvl4pPr>
      <a:lvl5pPr marL="1146049" indent="-228601" algn="l" defTabSz="914400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BentonSans Regular" panose="02000503000000020004" pitchFamily="2" charset="0"/>
          <a:ea typeface="+mn-ea"/>
          <a:cs typeface="Arial" panose="020B0604020202020204" pitchFamily="34" charset="0"/>
        </a:defRPr>
      </a:lvl5pPr>
      <a:lvl6pPr marL="1365505" indent="-228601" algn="l" defTabSz="914400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597152" indent="-228601" algn="l" defTabSz="914400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828801" indent="-228601" algn="l" defTabSz="914400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2060447" indent="-228601" algn="l" defTabSz="914400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9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1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2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1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99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 userDrawn="1">
          <p15:clr>
            <a:srgbClr val="F26B43"/>
          </p15:clr>
        </p15:guide>
        <p15:guide id="2" pos="288">
          <p15:clr>
            <a:srgbClr val="F26B43"/>
          </p15:clr>
        </p15:guide>
        <p15:guide id="3" pos="7392" userDrawn="1">
          <p15:clr>
            <a:srgbClr val="F26B43"/>
          </p15:clr>
        </p15:guide>
        <p15:guide id="4" orient="horz" pos="768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4" orient="horz" pos="2160" userDrawn="1">
          <p15:clr>
            <a:srgbClr val="F26B43"/>
          </p15:clr>
        </p15:guide>
        <p15:guide id="15" orient="horz" pos="888" userDrawn="1">
          <p15:clr>
            <a:srgbClr val="F26B43"/>
          </p15:clr>
        </p15:guide>
        <p15:guide id="16" orient="horz" pos="3960" userDrawn="1">
          <p15:clr>
            <a:srgbClr val="F26B43"/>
          </p15:clr>
        </p15:guide>
        <p15:guide id="17" orient="horz" pos="40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direction_guided_exploration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new signal lives</a:t>
            </a:r>
          </a:p>
        </p:txBody>
      </p:sp>
      <p:pic>
        <p:nvPicPr>
          <p:cNvPr id="3" name="Where new signal lives (figure)" descr="fig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236" y="1298448"/>
            <a:ext cx="10698480" cy="47697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Amex">
  <a:themeElements>
    <a:clrScheme name="66a9e2">
      <a:dk1>
        <a:srgbClr val="000000"/>
      </a:dk1>
      <a:lt1>
        <a:srgbClr val="FFFFFF"/>
      </a:lt1>
      <a:dk2>
        <a:srgbClr val="00175A"/>
      </a:dk2>
      <a:lt2>
        <a:srgbClr val="006FCF"/>
      </a:lt2>
      <a:accent1>
        <a:srgbClr val="001759"/>
      </a:accent1>
      <a:accent2>
        <a:srgbClr val="006FCF"/>
      </a:accent2>
      <a:accent3>
        <a:srgbClr val="75787B"/>
      </a:accent3>
      <a:accent4>
        <a:srgbClr val="66A9E2"/>
      </a:accent4>
      <a:accent5>
        <a:srgbClr val="B1B2B3"/>
      </a:accent5>
      <a:accent6>
        <a:srgbClr val="98A1BC"/>
      </a:accent6>
      <a:hlink>
        <a:srgbClr val="006FCF"/>
      </a:hlink>
      <a:folHlink>
        <a:srgbClr val="006FC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90500" dist="63500" dir="2700000" algn="br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2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20000"/>
          </a:lnSpc>
          <a:spcBef>
            <a:spcPts val="900"/>
          </a:spcBef>
          <a:buSzPct val="120000"/>
          <a:buFont typeface="Arial" pitchFamily="34" charset="0"/>
          <a:buChar char="▪"/>
          <a:defRPr sz="1200"/>
        </a:defPPr>
      </a:lstStyle>
    </a:txDef>
  </a:objectDefaults>
  <a:extraClrSchemeLst/>
  <a:custClrLst>
    <a:custClr name="Bright Blue">
      <a:srgbClr val="006FCF"/>
    </a:custClr>
    <a:custClr name="Deep Blue">
      <a:srgbClr val="00175A"/>
    </a:custClr>
    <a:custClr name="White">
      <a:srgbClr val="FFFFFF"/>
    </a:custClr>
    <a:custClr name="Black">
      <a:srgbClr val="000000"/>
    </a:custClr>
    <a:custClr name="Gray 1">
      <a:srgbClr val="D9D9D6"/>
    </a:custClr>
    <a:custClr name="Gray 2">
      <a:srgbClr val="D0D0CE"/>
    </a:custClr>
    <a:custClr name="Gray 3">
      <a:srgbClr val="C8C9C7"/>
    </a:custClr>
    <a:custClr name="Gray 4">
      <a:srgbClr val="BBBCBC"/>
    </a:custClr>
    <a:custClr name="Gray 5">
      <a:srgbClr val="B1B3B3"/>
    </a:custClr>
    <a:custClr name="Gray 6">
      <a:srgbClr val="A7A8AA"/>
    </a:custClr>
    <a:custClr name="Gray 7">
      <a:srgbClr val="97999B"/>
    </a:custClr>
    <a:custClr name="Gray 8">
      <a:srgbClr val="888B8D"/>
    </a:custClr>
    <a:custClr name="Gray 9">
      <a:srgbClr val="75787B"/>
    </a:custClr>
    <a:custClr name="Gray 10">
      <a:srgbClr val="63666A"/>
    </a:custClr>
    <a:custClr name="Gray 11">
      <a:srgbClr val="53565A"/>
    </a:custClr>
  </a:custClrLst>
  <a:extLst>
    <a:ext uri="{05A4C25C-085E-4340-85A3-A5531E510DB2}">
      <thm15:themeFamily xmlns:thm15="http://schemas.microsoft.com/office/thememl/2012/main" name="BOARD TEMPLATE - MAY 2021 (002) (003).potx  -  Read-Only" id="{B494CE5B-4F6F-4DFC-A522-2088D590C3C9}" vid="{1D57A21D-021D-4DE3-86E3-E3D2138344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158f467-f592-4f68-b205-41e7c092277d}" enabled="1" method="Standard" siteId="{66295b3b-c4fd-41af-a077-c0ec2a40e36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13407</TotalTime>
  <Words>4473</Words>
  <Application>Microsoft Macintosh PowerPoint</Application>
  <PresentationFormat>Widescreen</PresentationFormat>
  <Paragraphs>1313</Paragraphs>
  <Slides>40</Slides>
  <Notes>31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BentonSans Black</vt:lpstr>
      <vt:lpstr>BentonSans Bold</vt:lpstr>
      <vt:lpstr>BentonSans Book</vt:lpstr>
      <vt:lpstr>BentonSans Regular</vt:lpstr>
      <vt:lpstr>Guardian Egyp Regular</vt:lpstr>
      <vt:lpstr>Aptos Narrow</vt:lpstr>
      <vt:lpstr>Arial</vt:lpstr>
      <vt:lpstr>Calibri</vt:lpstr>
      <vt:lpstr>Cambria Math</vt:lpstr>
      <vt:lpstr>Courier New</vt:lpstr>
      <vt:lpstr>Helvetica</vt:lpstr>
      <vt:lpstr>Wingdings</vt:lpstr>
      <vt:lpstr>2_Amex</vt:lpstr>
      <vt:lpstr>Semi-supervised fine-tuning (SSF) in natural language inference (NLI) task</vt:lpstr>
      <vt:lpstr>Content</vt:lpstr>
      <vt:lpstr>Background:</vt:lpstr>
      <vt:lpstr>Background: AAAI pipeline to enhance performance</vt:lpstr>
      <vt:lpstr>Background: Explanation errors</vt:lpstr>
      <vt:lpstr>Background: NLI  task in error detection  </vt:lpstr>
      <vt:lpstr>Background: Fine-tune LMs with NLI task to detect errors</vt:lpstr>
      <vt:lpstr>Background: Fine-tune LMs with NLI task to detect error</vt:lpstr>
      <vt:lpstr>Preview:</vt:lpstr>
      <vt:lpstr>Data construction</vt:lpstr>
      <vt:lpstr>Public German dataset for evaluation LMs</vt:lpstr>
      <vt:lpstr>Public German dataset for evaluation LMs</vt:lpstr>
      <vt:lpstr>NLI task on Public German dataset</vt:lpstr>
      <vt:lpstr>Labeled and unlabeled data</vt:lpstr>
      <vt:lpstr>Split model explanation into reasoning points via LLM</vt:lpstr>
      <vt:lpstr>An example of LLM yielded reasoning points</vt:lpstr>
      <vt:lpstr>Semi-supervised fine-tuning</vt:lpstr>
      <vt:lpstr>SSF: Two paradigms </vt:lpstr>
      <vt:lpstr>SSF: Two SSF algorithms Pseudo-labeling [1] and FreeMatch [2]</vt:lpstr>
      <vt:lpstr>SSF: Un-supervised loss of Pseudo-labeling [1] and FreeMatch [2]</vt:lpstr>
      <vt:lpstr>SSF: Dynamic threshold used in FreeMatch [2]</vt:lpstr>
      <vt:lpstr>Results</vt:lpstr>
      <vt:lpstr>Factuality – BART:  SSF brings significant improvements on AUPRC.</vt:lpstr>
      <vt:lpstr>Factuality – Gemma-2-2b: SSF brings consistent, significant improvements on AUPRC </vt:lpstr>
      <vt:lpstr>Causality – BART: High AUPRC and AUC, consistent improvement in AUPRC </vt:lpstr>
      <vt:lpstr>Causality – Gemma-2-2b: SSF improves the most.  </vt:lpstr>
      <vt:lpstr>Comparison of manually split and  LLM yielded reasoning points: LLM generate longer, more consistent, denser reasoning points</vt:lpstr>
      <vt:lpstr>Utilization of unlabeled data: Pseudolabel v.s. FreeMatch (BART)</vt:lpstr>
      <vt:lpstr>PowerPoint Presentation</vt:lpstr>
      <vt:lpstr>PowerPoint Presentation</vt:lpstr>
      <vt:lpstr>Conclusions:</vt:lpstr>
      <vt:lpstr>Conclusions:</vt:lpstr>
      <vt:lpstr>Thank you!</vt:lpstr>
      <vt:lpstr>Appendix</vt:lpstr>
      <vt:lpstr>Impact of #ulb / #lb and weightage of unsupervised loss (Pseudolabel)</vt:lpstr>
      <vt:lpstr>Impact of #ulb / #lb and weightage of unsupervised loss (Pseudolabel)</vt:lpstr>
      <vt:lpstr>Impact of data augmentation methods (FreeMatch)</vt:lpstr>
      <vt:lpstr>Utilization of unlabeled data: Pseudolabel v.s. FreeMatch (Gemma-2-2b)</vt:lpstr>
      <vt:lpstr>PRC and ROC curves</vt:lpstr>
      <vt:lpstr>Dataset construction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Development  and Production Committee  2023 Voting Members, Meeting Dates and Trainings</dc:title>
  <dc:creator>Mary Diodato</dc:creator>
  <cp:lastModifiedBy>Liu Mingxuan</cp:lastModifiedBy>
  <cp:revision>48</cp:revision>
  <dcterms:created xsi:type="dcterms:W3CDTF">2024-05-08T07:20:30Z</dcterms:created>
  <dcterms:modified xsi:type="dcterms:W3CDTF">2026-02-04T17:55:21Z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2024-05-08T00:00:00Z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AXPAuthor">
    <vt:lpwstr>Hong Ming Ng</vt:lpwstr>
  </property>
  <property fmtid="{D5CDD505-2E9C-101B-9397-08002B2CF9AE}" pid="7" name="AXPDataClassification">
    <vt:lpwstr>AXP Internal</vt:lpwstr>
  </property>
  <property fmtid="{D5CDD505-2E9C-101B-9397-08002B2CF9AE}" pid="8" name="AXPDataClassificationForSearch">
    <vt:lpwstr>AXPInternal_UniqueSearchString</vt:lpwstr>
  </property>
</Properties>
</file>